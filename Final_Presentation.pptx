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241280" y="0"/>
            <a:ext cx="1947672" cy="2286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286000"/>
            <a:ext cx="1947672" cy="274320"/>
          </a:xfrm>
          <a:prstGeom prst="rect">
            <a:avLst/>
          </a:prstGeom>
          <a:solidFill>
            <a:srgbClr val="B43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11091672" cy="5943600"/>
          </a:xfrm>
          <a:prstGeom prst="rect">
            <a:avLst/>
          </a:prstGeom>
          <a:solidFill>
            <a:srgbClr val="F5F1E8"/>
          </a:solidFill>
          <a:ln w="19050">
            <a:solidFill>
              <a:srgbClr val="0F0F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94360"/>
            <a:ext cx="10817352" cy="5669280"/>
          </a:xfrm>
          <a:prstGeom prst="rect">
            <a:avLst/>
          </a:prstGeom>
          <a:noFill/>
          <a:ln w="6350">
            <a:solidFill>
              <a:srgbClr val="0F0F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0F0F0F"/>
                </a:solidFill>
                <a:latin typeface="Consolas"/>
              </a:rPr>
              <a:t>FINAL  ·  GROUP  · 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8686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57534E"/>
                </a:solidFill>
                <a:latin typeface="Microsoft YaHei"/>
              </a:rPr>
              <a:t>School of Business · MUST · 2026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1280160"/>
            <a:ext cx="822960" cy="0"/>
          </a:xfrm>
          <a:prstGeom prst="line">
            <a:avLst/>
          </a:prstGeom>
          <a:ln w="25400">
            <a:solidFill>
              <a:srgbClr val="B43F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5840" y="22860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0F0F0F"/>
                </a:solidFill>
                <a:latin typeface="Microsoft YaHei"/>
              </a:rPr>
              <a:t>校园学术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1A4F7A"/>
                </a:solidFill>
                <a:latin typeface="Microsoft YaHei"/>
              </a:rPr>
              <a:t>资源共享平台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57534E"/>
                </a:solidFill>
                <a:latin typeface="Microsoft YaHei"/>
              </a:rPr>
              <a:t>Campus Academic Resource Sharing Platform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5840" y="5212080"/>
            <a:ext cx="822960" cy="0"/>
          </a:xfrm>
          <a:prstGeom prst="line">
            <a:avLst/>
          </a:prstGeom>
          <a:ln w="31750">
            <a:solidFill>
              <a:srgbClr val="D4A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05840" y="5486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8E887E"/>
                </a:solidFill>
                <a:latin typeface="Consolas"/>
              </a:rP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715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0F0F"/>
                </a:solidFill>
                <a:latin typeface="Microsoft YaHei"/>
              </a:rPr>
              <a:t>连宇翔 · 郁凯杰 · 陈瀚中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486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8E887E"/>
                </a:solidFill>
                <a:latin typeface="Consolas"/>
              </a:rPr>
              <a:t>LECTURER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715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0F0F"/>
                </a:solidFill>
                <a:latin typeface="Microsoft YaHei"/>
              </a:rPr>
              <a:t>Dr. CHE Pak Hou (Howard)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98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57534E"/>
                </a:solidFill>
                <a:latin typeface="Consolas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457200" y="365760"/>
            <a:ext cx="164592" cy="164592"/>
          </a:xfrm>
          <a:prstGeom prst="rtTriangl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57534E"/>
                </a:solidFill>
                <a:latin typeface="Consolas"/>
              </a:rPr>
              <a:t>02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92840" cy="0"/>
          </a:xfrm>
          <a:prstGeom prst="line">
            <a:avLst/>
          </a:prstGeom>
          <a:ln w="9525">
            <a:solidFill>
              <a:srgbClr val="D1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8E887E"/>
                </a:solidFill>
                <a:latin typeface="Microsoft YaHei"/>
              </a:rPr>
              <a:t>校园学术资源共享平台  ·  Group Project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7534E"/>
                </a:solidFill>
                <a:latin typeface="Consola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A4F7A"/>
                </a:solidFill>
                <a:latin typeface="Consolas"/>
              </a:rPr>
              <a:t>No.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914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A4F7A"/>
                </a:solidFill>
                <a:latin typeface="Microsoft YaHei"/>
              </a:rPr>
              <a:t>TODAY'S OUTLINE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1207008"/>
            <a:ext cx="548640" cy="0"/>
          </a:xfrm>
          <a:prstGeom prst="line">
            <a:avLst/>
          </a:prstGeom>
          <a:ln w="19050">
            <a:solidFill>
              <a:srgbClr val="1A4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2801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0F0F0F"/>
                </a:solidFill>
                <a:latin typeface="Microsoft YaHei"/>
              </a:rPr>
              <a:t>Agenda.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7534E"/>
                </a:solidFill>
                <a:latin typeface="Microsoft YaHei"/>
              </a:rPr>
              <a:t>15 分钟里我们怎么走完它  ·  Total runtime: 15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2697480" cy="54864"/>
          </a:xfrm>
          <a:prstGeom prst="rect">
            <a:avLst/>
          </a:prstGeom>
          <a:solidFill>
            <a:srgbClr val="1A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429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4F7A"/>
                </a:solidFill>
                <a:latin typeface="Consola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03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1A4F7A"/>
                </a:solidFill>
                <a:latin typeface="Microsoft YaHei"/>
              </a:rPr>
              <a:t>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0F0F"/>
                </a:solidFill>
                <a:latin typeface="Microsoft YaHei"/>
              </a:rPr>
              <a:t>校园学术资源痛点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5840" y="4526280"/>
            <a:ext cx="274320" cy="0"/>
          </a:xfrm>
          <a:prstGeom prst="line">
            <a:avLst/>
          </a:prstGeom>
          <a:ln w="12700">
            <a:solidFill>
              <a:srgbClr val="1A4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5840" y="4572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4F7A"/>
                </a:solidFill>
                <a:latin typeface="Consolas"/>
              </a:rPr>
              <a:t>1.5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93592" y="3200400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93592" y="3200400"/>
            <a:ext cx="2697480" cy="54864"/>
          </a:xfrm>
          <a:prstGeom prst="rect">
            <a:avLst/>
          </a:prstGeom>
          <a:solidFill>
            <a:srgbClr val="B43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7912" y="3429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43F2C"/>
                </a:solidFill>
                <a:latin typeface="Consola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2" y="3703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B43F2C"/>
                </a:solidFill>
                <a:latin typeface="Microsoft YaHei"/>
              </a:rPr>
              <a:t>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912" y="40233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0F0F"/>
                </a:solidFill>
                <a:latin typeface="Microsoft YaHei"/>
              </a:rPr>
              <a:t>我们的解决方案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67912" y="4526280"/>
            <a:ext cx="274320" cy="0"/>
          </a:xfrm>
          <a:prstGeom prst="line">
            <a:avLst/>
          </a:prstGeom>
          <a:ln w="12700">
            <a:solidFill>
              <a:srgbClr val="B43F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867912" y="4572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43F2C"/>
                </a:solidFill>
                <a:latin typeface="Consolas"/>
              </a:rPr>
              <a:t>1.5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55664" y="3200400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55664" y="3200400"/>
            <a:ext cx="2697480" cy="54864"/>
          </a:xfrm>
          <a:prstGeom prst="rect">
            <a:avLst/>
          </a:prstGeom>
          <a:solidFill>
            <a:srgbClr val="6B4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4" y="3429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466E"/>
                </a:solidFill>
                <a:latin typeface="Consola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3703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466E"/>
                </a:solidFill>
                <a:latin typeface="Microsoft YaHei"/>
              </a:rPr>
              <a:t>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9984" y="40233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0F0F"/>
                </a:solidFill>
                <a:latin typeface="Microsoft YaHei"/>
              </a:rPr>
              <a:t>系统怎么搭起来的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29984" y="4526280"/>
            <a:ext cx="274320" cy="0"/>
          </a:xfrm>
          <a:prstGeom prst="line">
            <a:avLst/>
          </a:prstGeom>
          <a:ln w="12700">
            <a:solidFill>
              <a:srgbClr val="6B4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729984" y="4572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466E"/>
                </a:solidFill>
                <a:latin typeface="Consolas"/>
              </a:rPr>
              <a:t>1 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17736" y="3200400"/>
            <a:ext cx="2697480" cy="1691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17736" y="3200400"/>
            <a:ext cx="269748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92056" y="3429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9EBC2"/>
                </a:solidFill>
                <a:latin typeface="Consola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2056" y="3703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9EBC2"/>
                </a:solidFill>
                <a:latin typeface="Microsoft YaHei"/>
              </a:rPr>
              <a:t>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92056" y="40233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YaHei"/>
              </a:rPr>
              <a:t>🎬 LIVE DEMO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592056" y="4526280"/>
            <a:ext cx="274320" cy="0"/>
          </a:xfrm>
          <a:prstGeom prst="line">
            <a:avLst/>
          </a:prstGeom>
          <a:ln w="12700">
            <a:solidFill>
              <a:srgbClr val="F9E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592056" y="4572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9EBC2"/>
                </a:solidFill>
                <a:latin typeface="Consolas"/>
              </a:rPr>
              <a:t>6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056632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5056632"/>
            <a:ext cx="2697480" cy="5486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2852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7C59"/>
                </a:solidFill>
                <a:latin typeface="Consolas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5595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4A7C59"/>
                </a:solidFill>
                <a:latin typeface="Microsoft YaHei"/>
              </a:rP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587959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0F0F"/>
                </a:solidFill>
                <a:latin typeface="Microsoft YaHei"/>
              </a:rPr>
              <a:t>真实压测结果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05840" y="6382512"/>
            <a:ext cx="274320" cy="0"/>
          </a:xfrm>
          <a:prstGeom prst="line">
            <a:avLst/>
          </a:prstGeom>
          <a:ln w="12700">
            <a:solidFill>
              <a:srgbClr val="4A7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05840" y="64282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7C59"/>
                </a:solidFill>
                <a:latin typeface="Consolas"/>
              </a:rPr>
              <a:t>1.5 min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93592" y="5056632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93592" y="5056632"/>
            <a:ext cx="2697480" cy="54864"/>
          </a:xfrm>
          <a:prstGeom prst="rect">
            <a:avLst/>
          </a:prstGeom>
          <a:solidFill>
            <a:srgbClr val="1A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67912" y="52852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4F7A"/>
                </a:solidFill>
                <a:latin typeface="Consolas"/>
              </a:rPr>
              <a:t>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67912" y="55595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1A4F7A"/>
                </a:solidFill>
                <a:latin typeface="Microsoft YaHei"/>
              </a:rPr>
              <a:t>WRAP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67912" y="587959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0F0F"/>
                </a:solidFill>
                <a:latin typeface="Microsoft YaHei"/>
              </a:rPr>
              <a:t>目标 + 反思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867912" y="6382512"/>
            <a:ext cx="274320" cy="0"/>
          </a:xfrm>
          <a:prstGeom prst="line">
            <a:avLst/>
          </a:prstGeom>
          <a:ln w="12700">
            <a:solidFill>
              <a:srgbClr val="1A4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867912" y="64282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4F7A"/>
                </a:solidFill>
                <a:latin typeface="Consolas"/>
              </a:rPr>
              <a:t>1 min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55664" y="5056632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55664" y="5056632"/>
            <a:ext cx="2697480" cy="54864"/>
          </a:xfrm>
          <a:prstGeom prst="rect">
            <a:avLst/>
          </a:prstGeom>
          <a:solidFill>
            <a:srgbClr val="B43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29984" y="52852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43F2C"/>
                </a:solidFill>
                <a:latin typeface="Consolas"/>
              </a:rPr>
              <a:t>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9984" y="55595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B43F2C"/>
                </a:solidFill>
                <a:latin typeface="Microsoft YaHei"/>
              </a:rPr>
              <a:t>DISCUSS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9984" y="587959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0F0F"/>
                </a:solidFill>
                <a:latin typeface="Microsoft YaHei"/>
              </a:rPr>
              <a:t>Q &amp; A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29984" y="6382512"/>
            <a:ext cx="274320" cy="0"/>
          </a:xfrm>
          <a:prstGeom prst="line">
            <a:avLst/>
          </a:prstGeom>
          <a:ln w="12700">
            <a:solidFill>
              <a:srgbClr val="B43F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729984" y="64282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43F2C"/>
                </a:solidFill>
                <a:latin typeface="Consolas"/>
              </a:rPr>
              <a:t>1.5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457200" y="365760"/>
            <a:ext cx="164592" cy="164592"/>
          </a:xfrm>
          <a:prstGeom prst="rtTriangle">
            <a:avLst/>
          </a:prstGeom>
          <a:solidFill>
            <a:srgbClr val="B43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57534E"/>
                </a:solidFill>
                <a:latin typeface="Consolas"/>
              </a:rPr>
              <a:t>03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92840" cy="0"/>
          </a:xfrm>
          <a:prstGeom prst="line">
            <a:avLst/>
          </a:prstGeom>
          <a:ln w="9525">
            <a:solidFill>
              <a:srgbClr val="D1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8E887E"/>
                </a:solidFill>
                <a:latin typeface="Microsoft YaHei"/>
              </a:rPr>
              <a:t>校园学术资源共享平台  ·  Group Project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7534E"/>
                </a:solidFill>
                <a:latin typeface="Consola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43F2C"/>
                </a:solidFill>
                <a:latin typeface="Consolas"/>
              </a:rPr>
              <a:t>No.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914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B43F2C"/>
                </a:solidFill>
                <a:latin typeface="Microsoft YaHei"/>
              </a:rPr>
              <a:t>PROBLEM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1207008"/>
            <a:ext cx="548640" cy="0"/>
          </a:xfrm>
          <a:prstGeom prst="line">
            <a:avLst/>
          </a:prstGeom>
          <a:ln w="19050">
            <a:solidFill>
              <a:srgbClr val="B43F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2801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0F0F0F"/>
                </a:solidFill>
                <a:latin typeface="Microsoft YaHei"/>
              </a:rPr>
              <a:t>上一次找一份历年试卷，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0F0F"/>
                </a:solidFill>
                <a:latin typeface="Microsoft YaHei"/>
              </a:rPr>
              <a:t>你花了多久？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43200"/>
            <a:ext cx="457200" cy="2743200"/>
          </a:xfrm>
          <a:prstGeom prst="rect">
            <a:avLst/>
          </a:prstGeom>
          <a:solidFill>
            <a:srgbClr val="B43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468880"/>
            <a:ext cx="6400800" cy="3017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2000" b="1">
                <a:solidFill>
                  <a:srgbClr val="0F0F0F"/>
                </a:solidFill>
                <a:latin typeface="Microsoft YaHei"/>
              </a:rPr>
              <a:t>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918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B43F2C"/>
                </a:solidFill>
                <a:latin typeface="Microsoft YaHei"/>
              </a:rPr>
              <a:t>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12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7534E"/>
                </a:solidFill>
                <a:latin typeface="Microsoft YaHei"/>
              </a:rPr>
              <a:t>47 名学生调研得出的平均答案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0" y="2468880"/>
            <a:ext cx="0" cy="3474720"/>
          </a:xfrm>
          <a:prstGeom prst="line">
            <a:avLst/>
          </a:prstGeom>
          <a:ln w="12700">
            <a:solidFill>
              <a:srgbClr val="D1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46720" y="2606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B43F2C"/>
                </a:solidFill>
                <a:latin typeface="Consolas"/>
              </a:rPr>
              <a:t>FROM THE SURVEY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0175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43F2C"/>
                </a:solidFill>
                <a:latin typeface="Microsoft YaHei"/>
              </a:rPr>
              <a:t>82%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429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Microsoft YaHei"/>
              </a:rPr>
              <a:t>经常找不到资源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3154680"/>
            <a:ext cx="1828800" cy="146304"/>
          </a:xfrm>
          <a:prstGeom prst="rect">
            <a:avLst/>
          </a:prstGeom>
          <a:solidFill>
            <a:srgbClr val="D1C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3154680"/>
            <a:ext cx="1499616" cy="146304"/>
          </a:xfrm>
          <a:prstGeom prst="rect">
            <a:avLst/>
          </a:prstGeom>
          <a:solidFill>
            <a:srgbClr val="B43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373075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4F7A"/>
                </a:solidFill>
                <a:latin typeface="Microsoft YaHei"/>
              </a:rPr>
              <a:t>89%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1422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Microsoft YaHei"/>
              </a:rPr>
              <a:t>想要按课程代码筛选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3867912"/>
            <a:ext cx="1828800" cy="146304"/>
          </a:xfrm>
          <a:prstGeom prst="rect">
            <a:avLst/>
          </a:prstGeom>
          <a:solidFill>
            <a:srgbClr val="D1C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0" y="3867912"/>
            <a:ext cx="1627632" cy="146304"/>
          </a:xfrm>
          <a:prstGeom prst="rect">
            <a:avLst/>
          </a:prstGeom>
          <a:solidFill>
            <a:srgbClr val="1A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4443983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4A017"/>
                </a:solidFill>
                <a:latin typeface="Microsoft YaHei"/>
              </a:rPr>
              <a:t>76%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855463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Microsoft YaHei"/>
              </a:rPr>
              <a:t>如果有奖励就愿意分享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4581143"/>
            <a:ext cx="1828800" cy="146304"/>
          </a:xfrm>
          <a:prstGeom prst="rect">
            <a:avLst/>
          </a:prstGeom>
          <a:solidFill>
            <a:srgbClr val="D1C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4581143"/>
            <a:ext cx="1389888" cy="14630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515721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A7C59"/>
                </a:solidFill>
                <a:latin typeface="Microsoft YaHei"/>
              </a:rPr>
              <a:t>63%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5686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Microsoft YaHei"/>
              </a:rPr>
              <a:t>更喜欢积分制而非付费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5294376"/>
            <a:ext cx="1828800" cy="146304"/>
          </a:xfrm>
          <a:prstGeom prst="rect">
            <a:avLst/>
          </a:prstGeom>
          <a:solidFill>
            <a:srgbClr val="D1C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1200" y="5294376"/>
            <a:ext cx="1152144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989320"/>
            <a:ext cx="12191695" cy="4572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D4A017"/>
                </a:solidFill>
                <a:latin typeface="Microsoft YaHei"/>
              </a:rPr>
              <a:t>"下错年份的真题之后，我才发现自己复习了一晚上的内容根本不考"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5989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E887E"/>
                </a:solidFill>
                <a:latin typeface="Consolas"/>
              </a:rPr>
              <a:t>— P3, BBA Year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457200" y="365760"/>
            <a:ext cx="164592" cy="164592"/>
          </a:xfrm>
          <a:prstGeom prst="rtTriangle">
            <a:avLst/>
          </a:prstGeom>
          <a:solidFill>
            <a:srgbClr val="1A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57534E"/>
                </a:solidFill>
                <a:latin typeface="Consolas"/>
              </a:rPr>
              <a:t>04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92840" cy="0"/>
          </a:xfrm>
          <a:prstGeom prst="line">
            <a:avLst/>
          </a:prstGeom>
          <a:ln w="9525">
            <a:solidFill>
              <a:srgbClr val="D1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8E887E"/>
                </a:solidFill>
                <a:latin typeface="Microsoft YaHei"/>
              </a:rPr>
              <a:t>校园学术资源共享平台  ·  Group Project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7534E"/>
                </a:solidFill>
                <a:latin typeface="Consola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A4F7A"/>
                </a:solidFill>
                <a:latin typeface="Consolas"/>
              </a:rPr>
              <a:t>No.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914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A4F7A"/>
                </a:solidFill>
                <a:latin typeface="Microsoft YaHei"/>
              </a:rPr>
              <a:t>OUR SOLUTION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1207008"/>
            <a:ext cx="548640" cy="0"/>
          </a:xfrm>
          <a:prstGeom prst="line">
            <a:avLst/>
          </a:prstGeom>
          <a:ln w="19050">
            <a:solidFill>
              <a:srgbClr val="1A4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2801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0F0F0F"/>
                </a:solidFill>
                <a:latin typeface="Microsoft YaHei"/>
              </a:rPr>
              <a:t>我们做了一个网站。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7534E"/>
                </a:solidFill>
                <a:latin typeface="Microsoft YaHei"/>
              </a:rPr>
              <a:t>1 分钟找到资源 · 3 步上传分享 · 自动获得奖励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5349240" cy="3200400"/>
          </a:xfrm>
          <a:prstGeom prst="rect">
            <a:avLst/>
          </a:prstGeom>
          <a:solidFill>
            <a:srgbClr val="1A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8328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onsolas"/>
              </a:rPr>
              <a:t>01 / FEATURE IMPROVEMENT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3703320"/>
            <a:ext cx="274320" cy="0"/>
          </a:xfrm>
          <a:prstGeom prst="line">
            <a:avLst/>
          </a:prstGeom>
          <a:ln w="25400">
            <a:solidFill>
              <a:srgbClr val="D4A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97280" y="3886200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icrosoft YaHei"/>
              </a:rPr>
              <a:t>优化精准检索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4910328"/>
            <a:ext cx="73152" cy="73152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84632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DFEC"/>
                </a:solidFill>
                <a:latin typeface="Microsoft YaHei"/>
              </a:rPr>
              <a:t>多维度筛选：课程代码 / 学年 / 类型 / 评分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5276088"/>
            <a:ext cx="73152" cy="73152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21208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DFEC"/>
                </a:solidFill>
                <a:latin typeface="Microsoft YaHei"/>
              </a:rPr>
              <a:t>综合排序：匹配 40% + 热度 30% + 评分 30%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5641848"/>
            <a:ext cx="73152" cy="73152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57784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DFEC"/>
                </a:solidFill>
                <a:latin typeface="Microsoft YaHei"/>
              </a:rPr>
              <a:t>实测搜索响应 &lt; 100 毫秒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017520"/>
            <a:ext cx="5349240" cy="32004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38328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0F0F0F"/>
                </a:solidFill>
                <a:latin typeface="Consolas"/>
              </a:rPr>
              <a:t>02 / NEW FEATURE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29400" y="3703320"/>
            <a:ext cx="274320" cy="0"/>
          </a:xfrm>
          <a:prstGeom prst="line">
            <a:avLst/>
          </a:prstGeom>
          <a:ln w="2540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29400" y="3886200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0F0F"/>
                </a:solidFill>
                <a:latin typeface="Microsoft YaHei"/>
              </a:rPr>
              <a:t>积分激励体系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4910328"/>
            <a:ext cx="73152" cy="73152"/>
          </a:xfrm>
          <a:prstGeom prst="ellipse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84632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0F0F"/>
                </a:solidFill>
                <a:latin typeface="Microsoft YaHei"/>
              </a:rPr>
              <a:t>新用户注册即送 100 积分</a:t>
            </a:r>
          </a:p>
        </p:txBody>
      </p:sp>
      <p:sp>
        <p:nvSpPr>
          <p:cNvPr id="29" name="Oval 28"/>
          <p:cNvSpPr/>
          <p:nvPr/>
        </p:nvSpPr>
        <p:spPr>
          <a:xfrm>
            <a:off x="6629400" y="5276088"/>
            <a:ext cx="73152" cy="73152"/>
          </a:xfrm>
          <a:prstGeom prst="ellipse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521208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0F0F"/>
                </a:solidFill>
                <a:latin typeface="Microsoft YaHei"/>
              </a:rPr>
              <a:t>上传 +10 · 被下载 +2 · 被好评 +1</a:t>
            </a:r>
          </a:p>
        </p:txBody>
      </p:sp>
      <p:sp>
        <p:nvSpPr>
          <p:cNvPr id="31" name="Oval 30"/>
          <p:cNvSpPr/>
          <p:nvPr/>
        </p:nvSpPr>
        <p:spPr>
          <a:xfrm>
            <a:off x="6629400" y="5641848"/>
            <a:ext cx="73152" cy="73152"/>
          </a:xfrm>
          <a:prstGeom prst="ellipse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557784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0F0F"/>
                </a:solidFill>
                <a:latin typeface="Microsoft YaHei"/>
              </a:rPr>
              <a:t>50 分换 10 次下载 / 100 分置顶 7 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457200" y="365760"/>
            <a:ext cx="164592" cy="164592"/>
          </a:xfrm>
          <a:prstGeom prst="rtTriangle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57534E"/>
                </a:solidFill>
                <a:latin typeface="Consolas"/>
              </a:rPr>
              <a:t>05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92840" cy="0"/>
          </a:xfrm>
          <a:prstGeom prst="line">
            <a:avLst/>
          </a:prstGeom>
          <a:ln w="9525">
            <a:solidFill>
              <a:srgbClr val="D1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8E887E"/>
                </a:solidFill>
                <a:latin typeface="Microsoft YaHei"/>
              </a:rPr>
              <a:t>校园学术资源共享平台  ·  Group Project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7534E"/>
                </a:solidFill>
                <a:latin typeface="Consola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4A7C59"/>
                </a:solidFill>
                <a:latin typeface="Consolas"/>
              </a:rPr>
              <a:t>No.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914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4A7C59"/>
                </a:solidFill>
                <a:latin typeface="Microsoft YaHei"/>
              </a:rPr>
              <a:t>TECH STACK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1207008"/>
            <a:ext cx="548640" cy="0"/>
          </a:xfrm>
          <a:prstGeom prst="line">
            <a:avLst/>
          </a:prstGeom>
          <a:ln w="19050">
            <a:solidFill>
              <a:srgbClr val="4A7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2801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0F0F0F"/>
                </a:solidFill>
                <a:latin typeface="Microsoft YaHei"/>
              </a:rPr>
              <a:t>怎么搭起来的。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137160" cy="868680"/>
          </a:xfrm>
          <a:prstGeom prst="rect">
            <a:avLst/>
          </a:prstGeom>
          <a:solidFill>
            <a:srgbClr val="1A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468880"/>
            <a:ext cx="6720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6060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A4F7A"/>
                </a:solidFill>
                <a:latin typeface="Consolas"/>
              </a:rPr>
              <a:t>LAYER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346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0F0F"/>
                </a:solidFill>
                <a:latin typeface="Microsoft YaHei"/>
              </a:rPr>
              <a:t>前端 /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089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Consolas"/>
              </a:rPr>
              <a:t>Prototype.html · Cloudflare Edge HTTPS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60520.0" y="3337560"/>
            <a:ext cx="0.0" cy="274320"/>
          </a:xfrm>
          <a:prstGeom prst="line">
            <a:avLst/>
          </a:prstGeom>
          <a:ln w="12700">
            <a:solidFill>
              <a:srgbClr val="8E887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31520" y="3611880"/>
            <a:ext cx="137160" cy="868680"/>
          </a:xfrm>
          <a:prstGeom prst="rect">
            <a:avLst/>
          </a:prstGeom>
          <a:solidFill>
            <a:srgbClr val="B43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3611880"/>
            <a:ext cx="6720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7490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B43F2C"/>
                </a:solidFill>
                <a:latin typeface="Consolas"/>
              </a:rPr>
              <a:t>LAYER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776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0F0F"/>
                </a:solidFill>
                <a:latin typeface="Microsoft YaHei"/>
              </a:rPr>
              <a:t>API / 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519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Consolas"/>
              </a:rPr>
              <a:t>FastAPI (Python) · 17 endpoints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60520.0" y="4480560"/>
            <a:ext cx="0.0" cy="274320"/>
          </a:xfrm>
          <a:prstGeom prst="line">
            <a:avLst/>
          </a:prstGeom>
          <a:ln w="12700">
            <a:solidFill>
              <a:srgbClr val="8E887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31520" y="4754880"/>
            <a:ext cx="137160" cy="868680"/>
          </a:xfrm>
          <a:prstGeom prst="rect">
            <a:avLst/>
          </a:prstGeom>
          <a:solidFill>
            <a:srgbClr val="6B4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4754880"/>
            <a:ext cx="6720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920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B466E"/>
                </a:solidFill>
                <a:latin typeface="Consolas"/>
              </a:rPr>
              <a:t>LAYER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1206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0F0F"/>
                </a:solidFill>
                <a:latin typeface="Microsoft YaHei"/>
              </a:rPr>
              <a:t>数据库 / 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3949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Consolas"/>
              </a:rPr>
              <a:t>MariaDB 10 · 8 tables · MySQL-compatible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2468880"/>
            <a:ext cx="3840480" cy="3017520"/>
          </a:xfrm>
          <a:prstGeom prst="rect">
            <a:avLst/>
          </a:prstGeom>
          <a:solidFill>
            <a:srgbClr val="CBD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2606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4A7C59"/>
                </a:solidFill>
                <a:latin typeface="Consolas"/>
              </a:rPr>
              <a:t>LIVE  ·  IN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9260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0F0F"/>
                </a:solidFill>
                <a:latin typeface="Microsoft YaHei"/>
              </a:rPr>
              <a:t>真实云上部署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21040" y="3520440"/>
            <a:ext cx="365760" cy="0"/>
          </a:xfrm>
          <a:prstGeom prst="line">
            <a:avLst/>
          </a:prstGeom>
          <a:ln w="25400">
            <a:solidFill>
              <a:srgbClr val="4A7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21040" y="37033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4A7C59"/>
                </a:solidFill>
                <a:latin typeface="Consolas"/>
              </a:rPr>
              <a:t>VPS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703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0F0F"/>
                </a:solidFill>
                <a:latin typeface="Microsoft YaHei"/>
              </a:rPr>
              <a:t>1GB RAM · AlmaLinux 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114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4A7C59"/>
                </a:solidFill>
                <a:latin typeface="Consolas"/>
              </a:rPr>
              <a:t>ISOLATION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0F0F"/>
                </a:solidFill>
                <a:latin typeface="Microsoft YaHei"/>
              </a:rPr>
              <a:t>Docker · Memory cap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5262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4A7C59"/>
                </a:solidFill>
                <a:latin typeface="Consolas"/>
              </a:rPr>
              <a:t>HTTPS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526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0F0F"/>
                </a:solidFill>
                <a:latin typeface="Microsoft YaHei"/>
              </a:rPr>
              <a:t>Cloudflare auto-SSL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9377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4A7C59"/>
                </a:solidFill>
                <a:latin typeface="Consolas"/>
              </a:rPr>
              <a:t>UPTIME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937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0F0F"/>
                </a:solidFill>
                <a:latin typeface="Microsoft YaHei"/>
              </a:rPr>
              <a:t>24/7 · 实测稳定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715000"/>
            <a:ext cx="10972800" cy="59436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71500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onsolas"/>
              </a:rPr>
              <a:t>URL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1500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https://signing-isle-printed-shapes.trycloudflare.com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2286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274320" cy="1828800"/>
          </a:xfrm>
          <a:prstGeom prst="rect">
            <a:avLst/>
          </a:prstGeom>
          <a:solidFill>
            <a:srgbClr val="B43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274320" cy="2743200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4A017"/>
                </a:solidFill>
                <a:latin typeface="Consolas"/>
              </a:rPr>
              <a:t>No. 04  ·  LIVE DEMONSTRATION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868680"/>
            <a:ext cx="1554480" cy="0"/>
          </a:xfrm>
          <a:prstGeom prst="line">
            <a:avLst/>
          </a:prstGeom>
          <a:ln w="19050">
            <a:solidFill>
              <a:srgbClr val="D4A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0" y="5486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8E887E"/>
                </a:solidFill>
                <a:latin typeface="Consolas"/>
              </a:rPr>
              <a:t>06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FFFFFF"/>
                </a:solidFill>
                <a:latin typeface="Microsoft YaHei"/>
              </a:rPr>
              <a:t>DEMO.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D4A017"/>
                </a:solidFill>
                <a:latin typeface="Microsoft YaHei"/>
              </a:rPr>
              <a:t>现场演示  ·  6 分钟  ·  请打开浏览器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06240"/>
            <a:ext cx="6400800" cy="86868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B43F2C"/>
                </a:solidFill>
                <a:latin typeface="Consolas"/>
              </a:rPr>
              <a:t>VISIT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2628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F0F0F"/>
                </a:solidFill>
                <a:latin typeface="Consolas"/>
              </a:rPr>
              <a:t>trycloudflare.com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onsolas"/>
              </a:rPr>
              <a:t>signing-isle-printed-shapes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2519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onsolas"/>
              </a:rPr>
              <a:t>DEMO PATH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79" y="4526280"/>
            <a:ext cx="457200" cy="0"/>
          </a:xfrm>
          <a:prstGeom prst="line">
            <a:avLst/>
          </a:prstGeom>
          <a:ln w="19050">
            <a:solidFill>
              <a:srgbClr val="D4A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98079" y="47091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  <a:latin typeface="Consola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709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老师当场注册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0017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001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搜索 + 筛选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2943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52943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真实下载文件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586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55869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评分 + 兑换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2636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F0F0F"/>
                </a:solidFill>
                <a:latin typeface="Microsoft YaHei"/>
              </a:rPr>
              <a:t>请打开浏览器  ·  Switch to live browser now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457200" y="365760"/>
            <a:ext cx="164592" cy="164592"/>
          </a:xfrm>
          <a:prstGeom prst="rtTriangle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57534E"/>
                </a:solidFill>
                <a:latin typeface="Consolas"/>
              </a:rPr>
              <a:t>07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92840" cy="0"/>
          </a:xfrm>
          <a:prstGeom prst="line">
            <a:avLst/>
          </a:prstGeom>
          <a:ln w="9525">
            <a:solidFill>
              <a:srgbClr val="D1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8E887E"/>
                </a:solidFill>
                <a:latin typeface="Microsoft YaHei"/>
              </a:rPr>
              <a:t>校园学术资源共享平台  ·  Group Project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7534E"/>
                </a:solidFill>
                <a:latin typeface="Consola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4A7C59"/>
                </a:solidFill>
                <a:latin typeface="Consolas"/>
              </a:rPr>
              <a:t>No.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914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4A7C59"/>
                </a:solidFill>
                <a:latin typeface="Microsoft YaHei"/>
              </a:rPr>
              <a:t>PROOF UNDER LOAD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1207008"/>
            <a:ext cx="548640" cy="0"/>
          </a:xfrm>
          <a:prstGeom prst="line">
            <a:avLst/>
          </a:prstGeom>
          <a:ln w="19050">
            <a:solidFill>
              <a:srgbClr val="4A7C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2801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0F0F0F"/>
                </a:solidFill>
                <a:latin typeface="Microsoft YaHei"/>
              </a:rPr>
              <a:t>扛得住吗？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7534E"/>
                </a:solidFill>
                <a:latin typeface="Microsoft YaHei"/>
              </a:rPr>
              <a:t>真实压测  ·  Load testing on production deployment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697480"/>
            <a:ext cx="2697480" cy="365760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7432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FFFFF"/>
                </a:solidFill>
                <a:latin typeface="Consolas"/>
              </a:rPr>
              <a:t>THROUGHPUT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46120"/>
            <a:ext cx="2148840" cy="1463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5600" b="1">
                <a:solidFill>
                  <a:srgbClr val="4A7C59"/>
                </a:solidFill>
                <a:latin typeface="Microsoft YaHei"/>
              </a:rPr>
              <a:t>100</a:t>
            </a:r>
            <a:r>
              <a:rPr sz="1600" b="0">
                <a:solidFill>
                  <a:srgbClr val="57534E"/>
                </a:solidFill>
              </a:rPr>
              <a:t> /100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00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0F0F"/>
                </a:solidFill>
                <a:latin typeface="Microsoft YaHei"/>
              </a:rPr>
              <a:t>throughput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Microsoft YaHei"/>
              </a:rPr>
              <a:t>并发请求全成功 · 2 倍极限测试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269748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2697480"/>
            <a:ext cx="2697480" cy="365760"/>
          </a:xfrm>
          <a:prstGeom prst="rect">
            <a:avLst/>
          </a:prstGeom>
          <a:solidFill>
            <a:srgbClr val="1A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27432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FFFFF"/>
                </a:solidFill>
                <a:latin typeface="Consolas"/>
              </a:rPr>
              <a:t>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246120"/>
            <a:ext cx="2148840" cy="1463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5600" b="1">
                <a:solidFill>
                  <a:srgbClr val="1A4F7A"/>
                </a:solidFill>
                <a:latin typeface="Microsoft YaHei"/>
              </a:rPr>
              <a:t>87</a:t>
            </a:r>
            <a:r>
              <a:rPr sz="1600" b="0">
                <a:solidFill>
                  <a:srgbClr val="57534E"/>
                </a:solidFill>
              </a:rPr>
              <a:t>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800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0F0F"/>
                </a:solidFill>
                <a:latin typeface="Microsoft YaHei"/>
              </a:rPr>
              <a:t>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50749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Microsoft YaHei"/>
              </a:rPr>
              <a:t>搜索 P95 · 比目标快 22 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69748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2697480"/>
            <a:ext cx="2697480" cy="365760"/>
          </a:xfrm>
          <a:prstGeom prst="rect">
            <a:avLst/>
          </a:prstGeom>
          <a:solidFill>
            <a:srgbClr val="B43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7432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FFFFF"/>
                </a:solidFill>
                <a:latin typeface="Consolas"/>
              </a:rPr>
              <a:t>ATOMICITY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246120"/>
            <a:ext cx="2148840" cy="1463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5600" b="1">
                <a:solidFill>
                  <a:srgbClr val="B43F2C"/>
                </a:solidFill>
                <a:latin typeface="Microsoft YaHei"/>
              </a:rPr>
              <a:t>0</a:t>
            </a:r>
            <a:r>
              <a:rPr sz="1600" b="0">
                <a:solidFill>
                  <a:srgbClr val="57534E"/>
                </a:solidFill>
              </a:rPr>
              <a:t> 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800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0F0F"/>
                </a:solidFill>
                <a:latin typeface="Microsoft YaHei"/>
              </a:rPr>
              <a:t>atomicity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0749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Microsoft YaHei"/>
              </a:rPr>
              <a:t>1000 笔并发扣分 · 余额永不为负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72600" y="2697480"/>
            <a:ext cx="23317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72600" y="2697480"/>
            <a:ext cx="2331720" cy="3657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20" y="27432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FFFFF"/>
                </a:solidFill>
                <a:latin typeface="Consolas"/>
              </a:rPr>
              <a:t>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3246120"/>
            <a:ext cx="1783080" cy="1463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5600" b="1">
                <a:solidFill>
                  <a:srgbClr val="D4A017"/>
                </a:solidFill>
                <a:latin typeface="Microsoft YaHei"/>
              </a:rPr>
              <a:t>166</a:t>
            </a:r>
            <a:r>
              <a:rPr sz="1600" b="0">
                <a:solidFill>
                  <a:srgbClr val="57534E"/>
                </a:solidFill>
              </a:rPr>
              <a:t> MB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48006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0F0F"/>
                </a:solidFill>
                <a:latin typeface="Microsoft YaHei"/>
              </a:rPr>
              <a:t>memory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507492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Microsoft YaHei"/>
              </a:rPr>
              <a:t>VPS 占用 · 限额 340MB · 余 51%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4A017"/>
                </a:solidFill>
                <a:latin typeface="Microsoft YaHei"/>
              </a:rPr>
              <a:t>→  这个班 40 个同学一起用，绰绰有余。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457200" y="365760"/>
            <a:ext cx="164592" cy="164592"/>
          </a:xfrm>
          <a:prstGeom prst="rtTriangle">
            <a:avLst/>
          </a:prstGeom>
          <a:solidFill>
            <a:srgbClr val="1A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57534E"/>
                </a:solidFill>
                <a:latin typeface="Consolas"/>
              </a:rPr>
              <a:t>08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92840" cy="0"/>
          </a:xfrm>
          <a:prstGeom prst="line">
            <a:avLst/>
          </a:prstGeom>
          <a:ln w="9525">
            <a:solidFill>
              <a:srgbClr val="D1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8E887E"/>
                </a:solidFill>
                <a:latin typeface="Microsoft YaHei"/>
              </a:rPr>
              <a:t>校园学术资源共享平台  ·  Group Project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7534E"/>
                </a:solidFill>
                <a:latin typeface="Consola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A4F7A"/>
                </a:solidFill>
                <a:latin typeface="Consolas"/>
              </a:rPr>
              <a:t>No.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914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A4F7A"/>
                </a:solidFill>
                <a:latin typeface="Microsoft YaHei"/>
              </a:rPr>
              <a:t>RESULTS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1207008"/>
            <a:ext cx="548640" cy="0"/>
          </a:xfrm>
          <a:prstGeom prst="line">
            <a:avLst/>
          </a:prstGeom>
          <a:ln w="19050">
            <a:solidFill>
              <a:srgbClr val="1A4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2801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0F0F0F"/>
                </a:solidFill>
                <a:latin typeface="Microsoft YaHei"/>
              </a:rPr>
              <a:t>Charter 目标完成。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7534E"/>
                </a:solidFill>
                <a:latin typeface="Microsoft YaHei"/>
              </a:rPr>
              <a:t>立项时定的 7 个目标 · 全部达成或超额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10698480" cy="32004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300">
                <a:solidFill>
                  <a:srgbClr val="D4A017"/>
                </a:solidFill>
                <a:latin typeface="Consolas"/>
              </a:rPr>
              <a:t>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6974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300">
                <a:solidFill>
                  <a:srgbClr val="D4A017"/>
                </a:solidFill>
                <a:latin typeface="Consolas"/>
              </a:rPr>
              <a:t>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6974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300">
                <a:solidFill>
                  <a:srgbClr val="D4A017"/>
                </a:solidFill>
                <a:latin typeface="Consolas"/>
              </a:rPr>
              <a:t>ACHIEVED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6974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300">
                <a:solidFill>
                  <a:srgbClr val="D4A017"/>
                </a:solidFill>
                <a:latin typeface="Consolas"/>
              </a:rPr>
              <a:t>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26974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D4A017"/>
                </a:solidFill>
                <a:latin typeface="Microsoft YaHe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175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8E887E"/>
                </a:solidFill>
                <a:latin typeface="Consola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017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F0F0F"/>
                </a:solidFill>
                <a:latin typeface="Microsoft YaHei"/>
              </a:rPr>
              <a:t>功能需求覆盖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0175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A4F7A"/>
                </a:solidFill>
                <a:latin typeface="Microsoft YaHe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017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Microsoft YaHei"/>
              </a:rPr>
              <a:t>25/25 全部实现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30175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4A7C59"/>
                </a:solidFill>
                <a:latin typeface="Microsoft YaHei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429000"/>
            <a:ext cx="10698480" cy="411480"/>
          </a:xfrm>
          <a:prstGeom prst="rect">
            <a:avLst/>
          </a:prstGeom>
          <a:solidFill>
            <a:srgbClr val="EC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4290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8E887E"/>
                </a:solidFill>
                <a:latin typeface="Consola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34290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F0F0F"/>
                </a:solidFill>
                <a:latin typeface="Microsoft YaHei"/>
              </a:rPr>
              <a:t>用户测试完成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429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A4F7A"/>
                </a:solidFill>
                <a:latin typeface="Microsoft YaHei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4290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Microsoft YaHei"/>
              </a:rPr>
              <a:t>原型 + 真实部署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342900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4A7C59"/>
                </a:solidFill>
                <a:latin typeface="Microsoft YaHe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84048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8E887E"/>
                </a:solidFill>
                <a:latin typeface="Consola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3840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F0F0F"/>
                </a:solidFill>
                <a:latin typeface="Microsoft YaHei"/>
              </a:rPr>
              <a:t>检索效率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840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B43F2C"/>
                </a:solidFill>
                <a:latin typeface="Microsoft YaHei"/>
              </a:rPr>
              <a:t>+22×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840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Microsoft YaHei"/>
              </a:rPr>
              <a:t>目标 +60%, 实测 87ms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384048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4A7C59"/>
                </a:solidFill>
                <a:latin typeface="Microsoft YaHei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251960"/>
            <a:ext cx="10698480" cy="411480"/>
          </a:xfrm>
          <a:prstGeom prst="rect">
            <a:avLst/>
          </a:prstGeom>
          <a:solidFill>
            <a:srgbClr val="EC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25196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8E887E"/>
                </a:solidFill>
                <a:latin typeface="Consola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42519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F0F0F"/>
                </a:solidFill>
                <a:latin typeface="Microsoft YaHei"/>
              </a:rPr>
              <a:t>资源时间成本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2519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B43F2C"/>
                </a:solidFill>
                <a:latin typeface="Microsoft YaHei"/>
              </a:rPr>
              <a:t>-97%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2519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Microsoft YaHei"/>
              </a:rPr>
              <a:t>38 分 → &lt;1 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425196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4A7C59"/>
                </a:solidFill>
                <a:latin typeface="Microsoft YaHe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466344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8E887E"/>
                </a:solidFill>
                <a:latin typeface="Consolas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4663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F0F0F"/>
                </a:solidFill>
                <a:latin typeface="Microsoft YaHei"/>
              </a:rPr>
              <a:t>分享意愿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6634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4A7C59"/>
                </a:solidFill>
                <a:latin typeface="Microsoft YaHe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663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Microsoft YaHei"/>
              </a:rPr>
              <a:t>积分制 + 实测可上传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466344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4A7C59"/>
                </a:solidFill>
                <a:latin typeface="Microsoft YaHei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074920"/>
            <a:ext cx="10698480" cy="411480"/>
          </a:xfrm>
          <a:prstGeom prst="rect">
            <a:avLst/>
          </a:prstGeom>
          <a:solidFill>
            <a:srgbClr val="ECE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0749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8E887E"/>
                </a:solidFill>
                <a:latin typeface="Consolas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0" y="50749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F0F0F"/>
                </a:solidFill>
                <a:latin typeface="Microsoft YaHei"/>
              </a:rPr>
              <a:t>用户满意度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074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4A7C59"/>
                </a:solidFill>
                <a:latin typeface="Microsoft YaHei"/>
              </a:rPr>
              <a:t>4.5+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50749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Microsoft YaHei"/>
              </a:rPr>
              <a:t>实测稳定可用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50749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4A7C59"/>
                </a:solidFill>
                <a:latin typeface="Microsoft YaHe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4864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8E887E"/>
                </a:solidFill>
                <a:latin typeface="Consolas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54864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F0F0F"/>
                </a:solidFill>
                <a:latin typeface="Microsoft YaHei"/>
              </a:rPr>
              <a:t>按时交付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54864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D4A017"/>
                </a:solidFill>
                <a:latin typeface="Microsoft YaHe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54864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Microsoft YaHei"/>
              </a:rPr>
              <a:t>提前完成 + 24/7 在线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548640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4A7C59"/>
                </a:solidFill>
                <a:latin typeface="Microsoft YaHei"/>
              </a:rPr>
              <a:t>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457200" y="365760"/>
            <a:ext cx="164592" cy="164592"/>
          </a:xfrm>
          <a:prstGeom prst="rtTriangle">
            <a:avLst/>
          </a:prstGeom>
          <a:solidFill>
            <a:srgbClr val="6B4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57534E"/>
                </a:solidFill>
                <a:latin typeface="Consolas"/>
              </a:rPr>
              <a:t>09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92840" cy="0"/>
          </a:xfrm>
          <a:prstGeom prst="line">
            <a:avLst/>
          </a:prstGeom>
          <a:ln w="9525">
            <a:solidFill>
              <a:srgbClr val="D1C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8E887E"/>
                </a:solidFill>
                <a:latin typeface="Microsoft YaHei"/>
              </a:rPr>
              <a:t>校园学术资源共享平台  ·  Group Project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7534E"/>
                </a:solidFill>
                <a:latin typeface="Consola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B466E"/>
                </a:solidFill>
                <a:latin typeface="Consolas"/>
              </a:rPr>
              <a:t>No.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914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B466E"/>
                </a:solidFill>
                <a:latin typeface="Microsoft YaHei"/>
              </a:rPr>
              <a:t>REFLECTION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1207008"/>
            <a:ext cx="548640" cy="0"/>
          </a:xfrm>
          <a:prstGeom prst="line">
            <a:avLst/>
          </a:prstGeom>
          <a:ln w="19050">
            <a:solidFill>
              <a:srgbClr val="6B4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2801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0F0F0F"/>
                </a:solidFill>
                <a:latin typeface="Microsoft YaHei"/>
              </a:rPr>
              <a:t>做下来的体会。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3611880" cy="548640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6791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89504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FFFFF"/>
                </a:solidFill>
                <a:latin typeface="Microsoft YaHei"/>
              </a:rPr>
              <a:t>WHAT WORKED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08960"/>
            <a:ext cx="3611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0F0F"/>
                </a:solidFill>
                <a:latin typeface="Microsoft YaHei"/>
              </a:rPr>
              <a:t>做对的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A7C59"/>
                </a:solidFill>
                <a:latin typeface="Consola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023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0F0F"/>
                </a:solidFill>
                <a:latin typeface="Microsoft YaHei"/>
              </a:rPr>
              <a:t>调研先行 · 不拍脑袋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262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A7C5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5262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0F0F"/>
                </a:solidFill>
                <a:latin typeface="Microsoft YaHei"/>
              </a:rPr>
              <a:t>纯 HTML 原型零依赖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A7C59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0292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0F0F"/>
                </a:solidFill>
                <a:latin typeface="Microsoft YaHei"/>
              </a:rPr>
              <a:t>部署到云上真在线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321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A7C59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5321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0F0F"/>
                </a:solidFill>
                <a:latin typeface="Microsoft YaHei"/>
              </a:rPr>
              <a:t>积分公式可调参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7992" y="2560320"/>
            <a:ext cx="3611880" cy="548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26791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2312" y="2889504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FFFFF"/>
                </a:solidFill>
                <a:latin typeface="Microsoft YaHei"/>
              </a:rPr>
              <a:t>ROOM TO IMPROVE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07992" y="3108960"/>
            <a:ext cx="3611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82312" y="333756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0F0F"/>
                </a:solidFill>
                <a:latin typeface="Microsoft YaHei"/>
              </a:rPr>
              <a:t>不够好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40233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Consolas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2" y="4023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0F0F"/>
                </a:solidFill>
                <a:latin typeface="Microsoft YaHei"/>
              </a:rPr>
              <a:t>积分公式调了 3 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45262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Consola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5232" y="45262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0F0F"/>
                </a:solidFill>
                <a:latin typeface="Microsoft YaHei"/>
              </a:rPr>
              <a:t>考试期与设计冲突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5029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Consola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85232" y="50292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0F0F"/>
                </a:solidFill>
                <a:latin typeface="Microsoft YaHei"/>
              </a:rPr>
              <a:t>移动端做得偏晚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82312" y="55321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Consola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5232" y="55321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0F0F"/>
                </a:solidFill>
                <a:latin typeface="Microsoft YaHei"/>
              </a:rPr>
              <a:t>缺少自动化测试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84464" y="2560320"/>
            <a:ext cx="3611880" cy="548640"/>
          </a:xfrm>
          <a:prstGeom prst="rect">
            <a:avLst/>
          </a:prstGeom>
          <a:solidFill>
            <a:srgbClr val="1A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58784" y="26791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58784" y="2889504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FFFFF"/>
                </a:solidFill>
                <a:latin typeface="Microsoft YaHei"/>
              </a:rPr>
              <a:t>WHAT'S NEXT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84464" y="3108960"/>
            <a:ext cx="3611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58784" y="333756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0F0F"/>
                </a:solidFill>
                <a:latin typeface="Microsoft YaHei"/>
              </a:rPr>
              <a:t>之后想做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58784" y="40233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4F7A"/>
                </a:solidFill>
                <a:latin typeface="Consolas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40233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0F0F"/>
                </a:solidFill>
                <a:latin typeface="Microsoft YaHei"/>
              </a:rPr>
              <a:t>接更精准的推荐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58784" y="45262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4F7A"/>
                </a:solidFill>
                <a:latin typeface="Consolas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45262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0F0F"/>
                </a:solidFill>
                <a:latin typeface="Microsoft YaHei"/>
              </a:rPr>
              <a:t>做移动 App 客户端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58784" y="5029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4F7A"/>
                </a:solidFill>
                <a:latin typeface="Consolas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61704" y="50292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0F0F"/>
                </a:solidFill>
                <a:latin typeface="Microsoft YaHei"/>
              </a:rPr>
              <a:t>扩展到全校多学院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58784" y="55321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4F7A"/>
                </a:solidFill>
                <a:latin typeface="Consolas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61704" y="55321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0F0F"/>
                </a:solidFill>
                <a:latin typeface="Microsoft YaHei"/>
              </a:rPr>
              <a:t>积分公式 A/B 测试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43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1828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4A017"/>
                </a:solidFill>
                <a:latin typeface="Consolas"/>
              </a:rPr>
              <a:t>No. 08  ·  DISCUSSION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868680"/>
            <a:ext cx="1554480" cy="0"/>
          </a:xfrm>
          <a:prstGeom prst="line">
            <a:avLst/>
          </a:prstGeom>
          <a:ln w="19050">
            <a:solidFill>
              <a:srgbClr val="D4A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15600" y="548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0F0F0F"/>
                </a:solidFill>
                <a:latin typeface="Consolas"/>
              </a:rPr>
              <a:t>10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 i="0">
                <a:solidFill>
                  <a:srgbClr val="FFFFFF"/>
                </a:solidFill>
                <a:latin typeface="Microsoft YaHei"/>
              </a:rPr>
              <a:t>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1">
                <a:solidFill>
                  <a:srgbClr val="D4A017"/>
                </a:solidFill>
                <a:latin typeface="Microsoft YaHei"/>
              </a:rPr>
              <a:t>&amp; Answers.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B43F2C"/>
                </a:solidFill>
                <a:latin typeface="Consolas"/>
              </a:rPr>
              <a:t>ANSWERED BY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6263640"/>
            <a:ext cx="1097280" cy="0"/>
          </a:xfrm>
          <a:prstGeom prst="line">
            <a:avLst/>
          </a:prstGeom>
          <a:ln w="19050">
            <a:solidFill>
              <a:srgbClr val="B43F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6400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0F0F"/>
                </a:solidFill>
                <a:latin typeface="Microsoft YaHei"/>
              </a:rPr>
              <a:t>连宇翔  ·  郁凯杰  ·  陈瀚中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65760"/>
          </a:xfrm>
          <a:prstGeom prst="rect">
            <a:avLst/>
          </a:prstGeom>
          <a:solidFill>
            <a:srgbClr val="1A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0"/>
            <a:ext cx="2286000" cy="365760"/>
          </a:xfrm>
          <a:prstGeom prst="rect">
            <a:avLst/>
          </a:prstGeom>
          <a:solidFill>
            <a:srgbClr val="B43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2286000" cy="3657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3044952" cy="365760"/>
          </a:xfrm>
          <a:prstGeom prst="rect">
            <a:avLst/>
          </a:prstGeom>
          <a:solidFill>
            <a:srgbClr val="6B4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2286000" cy="365760"/>
          </a:xfrm>
          <a:prstGeom prst="rect">
            <a:avLst/>
          </a:prstGeom>
          <a:solidFill>
            <a:srgbClr val="6B4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6492240"/>
            <a:ext cx="2286000" cy="365760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6492240"/>
            <a:ext cx="2286000" cy="3657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solidFill>
            <a:srgbClr val="B43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6492240"/>
            <a:ext cx="3044952" cy="365760"/>
          </a:xfrm>
          <a:prstGeom prst="rect">
            <a:avLst/>
          </a:prstGeom>
          <a:solidFill>
            <a:srgbClr val="1A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B43F2C"/>
                </a:solidFill>
                <a:latin typeface="Consolas"/>
              </a:rPr>
              <a:t>END  ·  FIN  ·  THE END  ·  ありがとう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1234440"/>
            <a:ext cx="1554480" cy="0"/>
          </a:xfrm>
          <a:prstGeom prst="line">
            <a:avLst/>
          </a:prstGeom>
          <a:ln w="25400">
            <a:solidFill>
              <a:srgbClr val="B43F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15544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0" b="1" i="0">
                <a:solidFill>
                  <a:srgbClr val="1A4F7A"/>
                </a:solidFill>
                <a:latin typeface="Microsoft YaHei"/>
              </a:rPr>
              <a:t>Thank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0" b="1" i="0">
                <a:solidFill>
                  <a:srgbClr val="B43F2C"/>
                </a:solidFill>
                <a:latin typeface="Microsoft YaHei"/>
              </a:rPr>
              <a:t>You.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7534E"/>
                </a:solidFill>
                <a:latin typeface="Microsoft YaHei"/>
              </a:rPr>
              <a:t>感谢老师与同学们的聆听  ·  Thank you for your time and attention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669280"/>
            <a:ext cx="7315200" cy="64008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onsolas"/>
              </a:rPr>
              <a:t>VISIT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66928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signing-isle-printed-shapes.trycloudflare.com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5669280"/>
            <a:ext cx="3520440" cy="64008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566928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0F0F0F"/>
                </a:solidFill>
                <a:latin typeface="Consolas"/>
              </a:rPr>
              <a:t>DEMO 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94360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F0F0F"/>
                </a:solidFill>
                <a:latin typeface="Consolas"/>
              </a:rPr>
              <a:t>1230020693 / demo123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